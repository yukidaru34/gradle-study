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61" r:id="rId3"/>
    <p:sldId id="258" r:id="rId4"/>
    <p:sldId id="266" r:id="rId5"/>
    <p:sldId id="270" r:id="rId6"/>
    <p:sldId id="267" r:id="rId7"/>
    <p:sldId id="259" r:id="rId8"/>
    <p:sldId id="257" r:id="rId9"/>
    <p:sldId id="260" r:id="rId10"/>
    <p:sldId id="264" r:id="rId11"/>
    <p:sldId id="263" r:id="rId12"/>
    <p:sldId id="268" r:id="rId13"/>
    <p:sldId id="269" r:id="rId14"/>
    <p:sldId id="262" r:id="rId15"/>
    <p:sldId id="265"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8E835A-B14A-4E5A-B972-82CF0F6B7672}" v="13" dt="2025-02-24T14:50:21.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42E127-CA02-483F-83C3-8BD0B419FDC3}" type="datetimeFigureOut">
              <a:rPr kumimoji="1" lang="ja-JP" altLang="en-US" smtClean="0"/>
              <a:t>2025/2/24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D4D0C3-8735-41DA-B70B-0694E2BEE85D}" type="slidenum">
              <a:rPr kumimoji="1" lang="ja-JP" altLang="en-US" smtClean="0"/>
              <a:t>‹#›</a:t>
            </a:fld>
            <a:endParaRPr kumimoji="1" lang="ja-JP" altLang="en-US"/>
          </a:p>
        </p:txBody>
      </p:sp>
    </p:spTree>
    <p:extLst>
      <p:ext uri="{BB962C8B-B14F-4D97-AF65-F5344CB8AC3E}">
        <p14:creationId xmlns:p14="http://schemas.microsoft.com/office/powerpoint/2010/main" val="2090197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2D4D0C3-8735-41DA-B70B-0694E2BEE85D}" type="slidenum">
              <a:rPr kumimoji="1" lang="ja-JP" altLang="en-US" smtClean="0"/>
              <a:t>5</a:t>
            </a:fld>
            <a:endParaRPr kumimoji="1" lang="ja-JP" altLang="en-US"/>
          </a:p>
        </p:txBody>
      </p:sp>
    </p:spTree>
    <p:extLst>
      <p:ext uri="{BB962C8B-B14F-4D97-AF65-F5344CB8AC3E}">
        <p14:creationId xmlns:p14="http://schemas.microsoft.com/office/powerpoint/2010/main" val="3101538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B1778-5A95-9345-961E-2E5BD1AE8372}"/>
              </a:ext>
            </a:extLst>
          </p:cNvPr>
          <p:cNvSpPr>
            <a:spLocks noGrp="1"/>
          </p:cNvSpPr>
          <p:nvPr>
            <p:ph type="ctrTitle"/>
          </p:nvPr>
        </p:nvSpPr>
        <p:spPr>
          <a:xfrm>
            <a:off x="1524000" y="1122363"/>
            <a:ext cx="9144000" cy="2387600"/>
          </a:xfrm>
        </p:spPr>
        <p:txBody>
          <a:bodyPr anchor="b"/>
          <a:lstStyle>
            <a:lvl1pPr algn="ctr">
              <a:defRPr sz="6000" b="1">
                <a:solidFill>
                  <a:srgbClr val="4C4948"/>
                </a:solidFill>
                <a:latin typeface="+mn-ea"/>
                <a:ea typeface="+mn-ea"/>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4B2E7989-0550-7916-A308-328195AFC8BD}"/>
              </a:ext>
            </a:extLst>
          </p:cNvPr>
          <p:cNvSpPr>
            <a:spLocks noGrp="1"/>
          </p:cNvSpPr>
          <p:nvPr>
            <p:ph type="subTitle" idx="1"/>
          </p:nvPr>
        </p:nvSpPr>
        <p:spPr>
          <a:xfrm>
            <a:off x="1524000" y="3602038"/>
            <a:ext cx="9144000" cy="1655762"/>
          </a:xfrm>
        </p:spPr>
        <p:txBody>
          <a:bodyPr/>
          <a:lstStyle>
            <a:lvl1pPr marL="0" indent="0" algn="ctr">
              <a:buNone/>
              <a:defRPr sz="2400" b="1">
                <a:solidFill>
                  <a:srgbClr val="4C494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E5BB2FE6-9624-18D0-C6E1-21E452F2C343}"/>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5" name="フッター プレースホルダー 4">
            <a:extLst>
              <a:ext uri="{FF2B5EF4-FFF2-40B4-BE49-F238E27FC236}">
                <a16:creationId xmlns:a16="http://schemas.microsoft.com/office/drawing/2014/main" id="{1C032D59-9815-CFDC-3629-D97DA6DA6E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E83EAAE-BC5C-0040-FD94-112A265AD6F5}"/>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636449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248929-2746-2102-894E-36C8C0B6366C}"/>
              </a:ext>
            </a:extLst>
          </p:cNvPr>
          <p:cNvSpPr>
            <a:spLocks noGrp="1"/>
          </p:cNvSpPr>
          <p:nvPr>
            <p:ph type="title"/>
          </p:nvPr>
        </p:nvSpPr>
        <p:spPr/>
        <p:txBody>
          <a:bodyPr>
            <a:normAutofit/>
          </a:bodyPr>
          <a:lstStyle>
            <a:lvl1pPr>
              <a:defRPr sz="3200" b="1">
                <a:solidFill>
                  <a:srgbClr val="4C4948"/>
                </a:solidFill>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86DEFCF-539C-9BBF-FC0B-04BC0F08971C}"/>
              </a:ext>
            </a:extLst>
          </p:cNvPr>
          <p:cNvSpPr>
            <a:spLocks noGrp="1"/>
          </p:cNvSpPr>
          <p:nvPr>
            <p:ph idx="1"/>
          </p:nvPr>
        </p:nvSpPr>
        <p:spPr/>
        <p:txBody>
          <a:bodyPr/>
          <a:lstStyle>
            <a:lvl1pPr>
              <a:defRPr>
                <a:solidFill>
                  <a:srgbClr val="4C4948"/>
                </a:solidFill>
                <a:latin typeface="+mn-ea"/>
                <a:ea typeface="+mn-ea"/>
              </a:defRPr>
            </a:lvl1pPr>
            <a:lvl2pPr>
              <a:defRPr>
                <a:solidFill>
                  <a:srgbClr val="4C4948"/>
                </a:solidFill>
                <a:latin typeface="+mn-ea"/>
                <a:ea typeface="+mn-ea"/>
              </a:defRPr>
            </a:lvl2pPr>
            <a:lvl3pPr>
              <a:defRPr>
                <a:solidFill>
                  <a:srgbClr val="4C4948"/>
                </a:solidFill>
                <a:latin typeface="+mn-ea"/>
                <a:ea typeface="+mn-ea"/>
              </a:defRPr>
            </a:lvl3pPr>
            <a:lvl4pPr>
              <a:defRPr>
                <a:solidFill>
                  <a:srgbClr val="4C4948"/>
                </a:solidFill>
                <a:latin typeface="+mn-ea"/>
                <a:ea typeface="+mn-ea"/>
              </a:defRPr>
            </a:lvl4pPr>
            <a:lvl5pPr>
              <a:defRPr>
                <a:solidFill>
                  <a:srgbClr val="4C4948"/>
                </a:solidFill>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7EED516E-0865-7307-82EA-9DD1033C0069}"/>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5" name="フッター プレースホルダー 4">
            <a:extLst>
              <a:ext uri="{FF2B5EF4-FFF2-40B4-BE49-F238E27FC236}">
                <a16:creationId xmlns:a16="http://schemas.microsoft.com/office/drawing/2014/main" id="{8B09AE17-C6A1-6351-EC8F-02AACEA69B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4D2A2CA-636A-A852-E36D-AA347750C0EF}"/>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3D8139D6-956D-C0E1-102E-1EA056A86F05}"/>
              </a:ext>
            </a:extLst>
          </p:cNvPr>
          <p:cNvCxnSpPr/>
          <p:nvPr/>
        </p:nvCxnSpPr>
        <p:spPr>
          <a:xfrm>
            <a:off x="838200" y="1285875"/>
            <a:ext cx="10515600" cy="0"/>
          </a:xfrm>
          <a:prstGeom prst="line">
            <a:avLst/>
          </a:prstGeom>
          <a:ln w="38100">
            <a:solidFill>
              <a:srgbClr val="4C494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478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1B709F-1B66-EC25-0960-9D6CDDFF3BD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BD5BAA7-8860-118C-B9BC-324F8F2297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F20306-6956-BA09-9024-491094C1AE03}"/>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5" name="フッター プレースホルダー 4">
            <a:extLst>
              <a:ext uri="{FF2B5EF4-FFF2-40B4-BE49-F238E27FC236}">
                <a16:creationId xmlns:a16="http://schemas.microsoft.com/office/drawing/2014/main" id="{60C9B6F4-165B-671C-8AA5-1E774440D9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EFD0E2-91BA-847F-2E9A-4CCB37337E80}"/>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3960325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554FDF-046E-455D-555E-CD48080C76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05D2A4C-321C-13EF-1381-4AD47CE68C7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3241506-99BF-D367-0AEB-686C06D1020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7DAA562-74EB-0F81-9B4A-107C5F26E1FC}"/>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6" name="フッター プレースホルダー 5">
            <a:extLst>
              <a:ext uri="{FF2B5EF4-FFF2-40B4-BE49-F238E27FC236}">
                <a16:creationId xmlns:a16="http://schemas.microsoft.com/office/drawing/2014/main" id="{4598DDAF-8DF4-C1F6-E7AA-B030369ADD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B071A1-4A65-6C7A-3A9E-71D61ABF15DB}"/>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1942563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B6A20F-60B9-0F94-F1BD-98645425FB9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D4CCB9B-CFEF-7B67-4FE3-87A36BD922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79B57CB-13FC-077C-EE1C-CD8EFFD0670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8E63A0A-27EE-E5A2-8BA0-5D286148C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862AF29-0F05-8D6B-E30A-F5DA3375196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D732D98-5015-D342-23C5-E36E7D5744BC}"/>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8" name="フッター プレースホルダー 7">
            <a:extLst>
              <a:ext uri="{FF2B5EF4-FFF2-40B4-BE49-F238E27FC236}">
                <a16:creationId xmlns:a16="http://schemas.microsoft.com/office/drawing/2014/main" id="{92A7DDEC-9CBB-FB09-535B-C3392CE3169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EBD48FF-E4D2-6CFE-0988-4453263EA0E5}"/>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257943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0887E-DA19-96B6-69EB-6E4E4BF6EE5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127FFF-9CA8-70F5-681B-4A04BF093ED7}"/>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4" name="フッター プレースホルダー 3">
            <a:extLst>
              <a:ext uri="{FF2B5EF4-FFF2-40B4-BE49-F238E27FC236}">
                <a16:creationId xmlns:a16="http://schemas.microsoft.com/office/drawing/2014/main" id="{7141AC1E-1010-9EF1-6FE2-3BE3196A9E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1B2BA10-E986-0921-E009-254EBE5BEB78}"/>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3715374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92AE6A8-7797-949A-B4C3-E1AEE7306976}"/>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3" name="フッター プレースホルダー 2">
            <a:extLst>
              <a:ext uri="{FF2B5EF4-FFF2-40B4-BE49-F238E27FC236}">
                <a16:creationId xmlns:a16="http://schemas.microsoft.com/office/drawing/2014/main" id="{48B276CC-3815-89E8-7964-BD2A8521483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587FC62-C355-6B4B-A1EF-94A420D42CF7}"/>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1058937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17D32E-6A35-1E53-9090-3127C65984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1435892-C418-FDEA-69EC-3ECC297C9D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8DF1E05-9143-3552-47D2-95FA63D0E9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A52B246-95E2-FC19-DA25-2841238779A0}"/>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6" name="フッター プレースホルダー 5">
            <a:extLst>
              <a:ext uri="{FF2B5EF4-FFF2-40B4-BE49-F238E27FC236}">
                <a16:creationId xmlns:a16="http://schemas.microsoft.com/office/drawing/2014/main" id="{2EE8A50D-38C9-755E-9FED-FDF11595803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76C18-B56B-62B0-539A-459392CBEA2E}"/>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3283919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75C1D2-C43E-A31F-E052-0FD8A29507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FC075A8-610B-CD3E-24C8-EE0AD67E7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D52ABB71-9E49-9F7A-87C6-053AD1597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4ECE05-F333-A08A-A6F7-D303FCE32D01}"/>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6" name="フッター プレースホルダー 5">
            <a:extLst>
              <a:ext uri="{FF2B5EF4-FFF2-40B4-BE49-F238E27FC236}">
                <a16:creationId xmlns:a16="http://schemas.microsoft.com/office/drawing/2014/main" id="{5118FBC9-46E3-80C3-09EA-92CEF24CBDA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EEDCAF2-5FBE-9B63-21F5-6226DE38D1FB}"/>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187361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A2AF27-DD3A-434F-FE2A-4C7D22E49D8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40874D7-A578-AEFE-612E-7408D5975B0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145D8F-AF0F-0A0C-8F5F-9B73669E3C09}"/>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5" name="フッター プレースホルダー 4">
            <a:extLst>
              <a:ext uri="{FF2B5EF4-FFF2-40B4-BE49-F238E27FC236}">
                <a16:creationId xmlns:a16="http://schemas.microsoft.com/office/drawing/2014/main" id="{0E270CE6-607B-CC20-8A05-D41AC8B36E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784B3B-7C31-8760-36E8-2CA63C7DC2F6}"/>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191384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19CDDED-4EB6-E488-7EB8-922B4F6075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C440F41-F54A-2AC0-236B-8DCEA57C101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C653DF-9E4B-2273-922F-7FCF21FC65EE}"/>
              </a:ext>
            </a:extLst>
          </p:cNvPr>
          <p:cNvSpPr>
            <a:spLocks noGrp="1"/>
          </p:cNvSpPr>
          <p:nvPr>
            <p:ph type="dt" sz="half" idx="10"/>
          </p:nvPr>
        </p:nvSpPr>
        <p:spPr/>
        <p:txBody>
          <a:bodyPr/>
          <a:lstStyle/>
          <a:p>
            <a:fld id="{FDA4B2E3-5E0B-443E-99F9-C72725D27F8E}" type="datetimeFigureOut">
              <a:rPr kumimoji="1" lang="ja-JP" altLang="en-US" smtClean="0"/>
              <a:t>2025/2/24</a:t>
            </a:fld>
            <a:endParaRPr kumimoji="1" lang="ja-JP" altLang="en-US"/>
          </a:p>
        </p:txBody>
      </p:sp>
      <p:sp>
        <p:nvSpPr>
          <p:cNvPr id="5" name="フッター プレースホルダー 4">
            <a:extLst>
              <a:ext uri="{FF2B5EF4-FFF2-40B4-BE49-F238E27FC236}">
                <a16:creationId xmlns:a16="http://schemas.microsoft.com/office/drawing/2014/main" id="{34261330-4D2D-BD26-F4A7-46DCE1B467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282B8E4-921E-A54F-6025-0A3B6C1E2DC9}"/>
              </a:ext>
            </a:extLst>
          </p:cNvPr>
          <p:cNvSpPr>
            <a:spLocks noGrp="1"/>
          </p:cNvSpPr>
          <p:nvPr>
            <p:ph type="sldNum" sz="quarter" idx="12"/>
          </p:nvPr>
        </p:nvSpPr>
        <p:spPr/>
        <p:txBody>
          <a:body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95554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CE60F39-A1FF-1745-1E9A-B9B50E642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800514-4B0E-38E5-F07A-15B5A3A184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EA828E-5038-7070-5049-DD5B7E4C2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A4B2E3-5E0B-443E-99F9-C72725D27F8E}" type="datetimeFigureOut">
              <a:rPr kumimoji="1" lang="ja-JP" altLang="en-US" smtClean="0"/>
              <a:t>2025/2/24</a:t>
            </a:fld>
            <a:endParaRPr kumimoji="1" lang="ja-JP" altLang="en-US"/>
          </a:p>
        </p:txBody>
      </p:sp>
      <p:sp>
        <p:nvSpPr>
          <p:cNvPr id="5" name="フッター プレースホルダー 4">
            <a:extLst>
              <a:ext uri="{FF2B5EF4-FFF2-40B4-BE49-F238E27FC236}">
                <a16:creationId xmlns:a16="http://schemas.microsoft.com/office/drawing/2014/main" id="{5A0596C1-67E2-34FB-B693-6C0D1CAD23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BF81426-B2B2-93AE-1B33-094FB5187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246869-EA6A-4C97-97D2-61F319B06BF6}" type="slidenum">
              <a:rPr kumimoji="1" lang="ja-JP" altLang="en-US" smtClean="0"/>
              <a:t>‹#›</a:t>
            </a:fld>
            <a:endParaRPr kumimoji="1" lang="ja-JP" altLang="en-US"/>
          </a:p>
        </p:txBody>
      </p:sp>
    </p:spTree>
    <p:extLst>
      <p:ext uri="{BB962C8B-B14F-4D97-AF65-F5344CB8AC3E}">
        <p14:creationId xmlns:p14="http://schemas.microsoft.com/office/powerpoint/2010/main" val="1531199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737284-B57B-C08E-B33B-7939E38BD3F4}"/>
              </a:ext>
            </a:extLst>
          </p:cNvPr>
          <p:cNvSpPr>
            <a:spLocks noGrp="1"/>
          </p:cNvSpPr>
          <p:nvPr>
            <p:ph type="ctrTitle"/>
          </p:nvPr>
        </p:nvSpPr>
        <p:spPr/>
        <p:txBody>
          <a:bodyPr/>
          <a:lstStyle/>
          <a:p>
            <a:endParaRPr kumimoji="1" lang="ja-JP" altLang="en-US" dirty="0"/>
          </a:p>
        </p:txBody>
      </p:sp>
      <p:sp>
        <p:nvSpPr>
          <p:cNvPr id="3" name="字幕 2">
            <a:extLst>
              <a:ext uri="{FF2B5EF4-FFF2-40B4-BE49-F238E27FC236}">
                <a16:creationId xmlns:a16="http://schemas.microsoft.com/office/drawing/2014/main" id="{D80457D2-EBE1-7C61-6B12-2AD69E7FD5F5}"/>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4469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A7C48D-BACE-027A-ADC2-6D43622E1D79}"/>
              </a:ext>
            </a:extLst>
          </p:cNvPr>
          <p:cNvSpPr>
            <a:spLocks noGrp="1"/>
          </p:cNvSpPr>
          <p:nvPr>
            <p:ph type="title"/>
          </p:nvPr>
        </p:nvSpPr>
        <p:spPr/>
        <p:txBody>
          <a:bodyPr/>
          <a:lstStyle/>
          <a:p>
            <a:r>
              <a:rPr lang="ja-JP" altLang="en-US" dirty="0"/>
              <a:t>初めに</a:t>
            </a:r>
            <a:endParaRPr kumimoji="1" lang="ja-JP" altLang="en-US" dirty="0"/>
          </a:p>
        </p:txBody>
      </p:sp>
      <p:sp>
        <p:nvSpPr>
          <p:cNvPr id="3" name="コンテンツ プレースホルダー 2">
            <a:extLst>
              <a:ext uri="{FF2B5EF4-FFF2-40B4-BE49-F238E27FC236}">
                <a16:creationId xmlns:a16="http://schemas.microsoft.com/office/drawing/2014/main" id="{26977779-1071-EAEC-D26A-85F6232EEF4B}"/>
              </a:ext>
            </a:extLst>
          </p:cNvPr>
          <p:cNvSpPr>
            <a:spLocks noGrp="1"/>
          </p:cNvSpPr>
          <p:nvPr>
            <p:ph idx="1"/>
          </p:nvPr>
        </p:nvSpPr>
        <p:spPr/>
        <p:txBody>
          <a:bodyPr>
            <a:normAutofit/>
          </a:bodyPr>
          <a:lstStyle/>
          <a:p>
            <a:pPr marL="0" indent="0">
              <a:buNone/>
            </a:pPr>
            <a:r>
              <a:rPr lang="ja-JP" altLang="en-US" sz="1800" dirty="0"/>
              <a:t>相川 裕希</a:t>
            </a:r>
            <a:endParaRPr lang="en-US" altLang="ja-JP" sz="1800" dirty="0"/>
          </a:p>
          <a:p>
            <a:pPr marL="0" indent="0">
              <a:buNone/>
            </a:pPr>
            <a:r>
              <a:rPr lang="en-US" altLang="ja-JP" sz="1400" dirty="0"/>
              <a:t>DED</a:t>
            </a:r>
            <a:r>
              <a:rPr lang="ja-JP" altLang="en-US" sz="1400" dirty="0"/>
              <a:t>所属 </a:t>
            </a:r>
            <a:r>
              <a:rPr lang="en-US" altLang="ja-JP" sz="1400" dirty="0"/>
              <a:t>(2022</a:t>
            </a:r>
            <a:r>
              <a:rPr lang="ja-JP" altLang="en-US" sz="1400" dirty="0"/>
              <a:t>年入社 ３年目</a:t>
            </a:r>
            <a:r>
              <a:rPr lang="en-US" altLang="ja-JP" sz="1400" dirty="0"/>
              <a:t>)</a:t>
            </a:r>
            <a:br>
              <a:rPr lang="en-US" altLang="ja-JP" sz="1400" dirty="0"/>
            </a:br>
            <a:r>
              <a:rPr lang="ja-JP" altLang="en-US" sz="1400" dirty="0"/>
              <a:t>脱</a:t>
            </a:r>
            <a:r>
              <a:rPr lang="en-US" altLang="ja-JP" sz="1400" dirty="0"/>
              <a:t>RPG</a:t>
            </a:r>
            <a:r>
              <a:rPr lang="ja-JP" altLang="en-US" sz="1400" dirty="0"/>
              <a:t>のインフラ</a:t>
            </a:r>
            <a:r>
              <a:rPr lang="en-US" altLang="ja-JP" sz="1400" dirty="0"/>
              <a:t>T &amp; </a:t>
            </a:r>
            <a:r>
              <a:rPr lang="ja-JP" altLang="en-US" sz="1400" dirty="0"/>
              <a:t>バックエンド基盤</a:t>
            </a:r>
            <a:r>
              <a:rPr lang="en-US" altLang="ja-JP" sz="1400" dirty="0"/>
              <a:t>T</a:t>
            </a:r>
            <a:r>
              <a:rPr lang="ja-JP" altLang="en-US" sz="1400" dirty="0"/>
              <a:t>所属</a:t>
            </a:r>
            <a:br>
              <a:rPr lang="en-US" altLang="ja-JP" sz="1400" dirty="0"/>
            </a:br>
            <a:br>
              <a:rPr lang="en-US" altLang="ja-JP" sz="1400" dirty="0"/>
            </a:br>
            <a:r>
              <a:rPr lang="en-US" altLang="ja-JP" sz="1400" dirty="0"/>
              <a:t>&lt;</a:t>
            </a:r>
            <a:r>
              <a:rPr lang="ja-JP" altLang="en-US" sz="1400" dirty="0"/>
              <a:t>やってきたこと</a:t>
            </a:r>
            <a:r>
              <a:rPr lang="en-US" altLang="ja-JP" sz="1400" dirty="0"/>
              <a:t>&gt;</a:t>
            </a:r>
            <a:br>
              <a:rPr lang="en-US" altLang="ja-JP" sz="1400" dirty="0"/>
            </a:br>
            <a:r>
              <a:rPr lang="ja-JP" altLang="en-US" sz="1400" dirty="0"/>
              <a:t>モバイル・</a:t>
            </a:r>
            <a:r>
              <a:rPr lang="en-US" altLang="ja-JP" sz="1400" dirty="0"/>
              <a:t>WEB</a:t>
            </a:r>
            <a:r>
              <a:rPr lang="ja-JP" altLang="en-US" sz="1400" dirty="0"/>
              <a:t>アプリケーション開発の勉強</a:t>
            </a:r>
            <a:br>
              <a:rPr lang="en-US" altLang="ja-JP" sz="1400" dirty="0"/>
            </a:br>
            <a:r>
              <a:rPr lang="ja-JP" altLang="en-US" sz="1400" dirty="0"/>
              <a:t>ローコード開発ツールの</a:t>
            </a:r>
            <a:r>
              <a:rPr lang="en-US" altLang="ja-JP" sz="1400" dirty="0"/>
              <a:t>PoC</a:t>
            </a:r>
            <a:br>
              <a:rPr lang="en-US" altLang="ja-JP" sz="1400" dirty="0"/>
            </a:br>
            <a:r>
              <a:rPr lang="ja-JP" altLang="en-US" sz="1400" dirty="0"/>
              <a:t>カード系基幹システムの保守・開発・移行</a:t>
            </a:r>
            <a:br>
              <a:rPr lang="en-US" altLang="ja-JP" sz="1400" dirty="0"/>
            </a:br>
            <a:r>
              <a:rPr lang="ja-JP" altLang="en-US" sz="1400" dirty="0"/>
              <a:t>審査システムの更改案件の</a:t>
            </a:r>
            <a:r>
              <a:rPr lang="en-US" altLang="ja-JP" sz="1400" dirty="0"/>
              <a:t>PG</a:t>
            </a:r>
            <a:r>
              <a:rPr lang="ja-JP" altLang="en-US" sz="1400" dirty="0"/>
              <a:t>工程で使用するサンプル機能、基盤部品の実装</a:t>
            </a:r>
            <a:br>
              <a:rPr lang="en-US" altLang="ja-JP" sz="1400" dirty="0"/>
            </a:br>
            <a:br>
              <a:rPr lang="en-US" altLang="ja-JP" sz="1400" dirty="0"/>
            </a:br>
            <a:r>
              <a:rPr lang="en-US" altLang="ja-JP" sz="1400" dirty="0"/>
              <a:t>&lt;</a:t>
            </a:r>
            <a:r>
              <a:rPr lang="ja-JP" altLang="en-US" sz="1400" dirty="0"/>
              <a:t>お休み</a:t>
            </a:r>
            <a:r>
              <a:rPr lang="en-US" altLang="ja-JP" sz="1400" dirty="0"/>
              <a:t>&gt;</a:t>
            </a:r>
            <a:br>
              <a:rPr lang="en-US" altLang="ja-JP" sz="1400" dirty="0"/>
            </a:br>
            <a:r>
              <a:rPr lang="ja-JP" altLang="en-US" sz="1400" dirty="0"/>
              <a:t>伊豆にキャンプに行き、河津桜を見てきました。</a:t>
            </a:r>
            <a:endParaRPr kumimoji="1" lang="en-US" altLang="ja-JP" sz="1400" dirty="0"/>
          </a:p>
        </p:txBody>
      </p:sp>
      <p:sp>
        <p:nvSpPr>
          <p:cNvPr id="4" name="テキスト ボックス 3">
            <a:extLst>
              <a:ext uri="{FF2B5EF4-FFF2-40B4-BE49-F238E27FC236}">
                <a16:creationId xmlns:a16="http://schemas.microsoft.com/office/drawing/2014/main" id="{B7AD2A20-CEF0-377C-C82F-6174C212C4CA}"/>
              </a:ext>
            </a:extLst>
          </p:cNvPr>
          <p:cNvSpPr txBox="1"/>
          <p:nvPr/>
        </p:nvSpPr>
        <p:spPr>
          <a:xfrm>
            <a:off x="932873" y="5514108"/>
            <a:ext cx="10076872" cy="369332"/>
          </a:xfrm>
          <a:prstGeom prst="rect">
            <a:avLst/>
          </a:prstGeom>
          <a:noFill/>
        </p:spPr>
        <p:txBody>
          <a:bodyPr wrap="square" rtlCol="0">
            <a:spAutoFit/>
          </a:bodyPr>
          <a:lstStyle/>
          <a:p>
            <a:r>
              <a:rPr kumimoji="1" lang="ja-JP" altLang="en-US" dirty="0"/>
              <a:t>プロフェッショナルな知識、技術を持っているわけではないので多めに見ていただけると</a:t>
            </a:r>
            <a:r>
              <a:rPr lang="en-US" altLang="ja-JP" dirty="0"/>
              <a:t>…</a:t>
            </a:r>
            <a:endParaRPr kumimoji="1" lang="en-US" altLang="ja-JP" dirty="0"/>
          </a:p>
        </p:txBody>
      </p:sp>
    </p:spTree>
    <p:extLst>
      <p:ext uri="{BB962C8B-B14F-4D97-AF65-F5344CB8AC3E}">
        <p14:creationId xmlns:p14="http://schemas.microsoft.com/office/powerpoint/2010/main" val="501568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E072DD-8607-BCF7-09A2-7D3D4386F1D5}"/>
              </a:ext>
            </a:extLst>
          </p:cNvPr>
          <p:cNvSpPr>
            <a:spLocks noGrp="1"/>
          </p:cNvSpPr>
          <p:nvPr>
            <p:ph type="title"/>
          </p:nvPr>
        </p:nvSpPr>
        <p:spPr/>
        <p:txBody>
          <a:bodyPr/>
          <a:lstStyle/>
          <a:p>
            <a:r>
              <a:rPr lang="ja-JP" altLang="en-US" dirty="0"/>
              <a:t>目的</a:t>
            </a:r>
            <a:endParaRPr kumimoji="1" lang="ja-JP" altLang="en-US" dirty="0"/>
          </a:p>
        </p:txBody>
      </p:sp>
      <p:sp>
        <p:nvSpPr>
          <p:cNvPr id="3" name="コンテンツ プレースホルダー 2">
            <a:extLst>
              <a:ext uri="{FF2B5EF4-FFF2-40B4-BE49-F238E27FC236}">
                <a16:creationId xmlns:a16="http://schemas.microsoft.com/office/drawing/2014/main" id="{56B7795B-471D-1387-84DF-387147E349EE}"/>
              </a:ext>
            </a:extLst>
          </p:cNvPr>
          <p:cNvSpPr>
            <a:spLocks noGrp="1"/>
          </p:cNvSpPr>
          <p:nvPr>
            <p:ph idx="1"/>
          </p:nvPr>
        </p:nvSpPr>
        <p:spPr/>
        <p:txBody>
          <a:bodyPr/>
          <a:lstStyle/>
          <a:p>
            <a:r>
              <a:rPr kumimoji="1" lang="ja-JP" altLang="en-US" dirty="0"/>
              <a:t>コンテナとは何なのか？ざっくり理解してもらう</a:t>
            </a:r>
            <a:endParaRPr kumimoji="1" lang="en-US" altLang="ja-JP" dirty="0"/>
          </a:p>
          <a:p>
            <a:r>
              <a:rPr lang="en-US" altLang="ja-JP" dirty="0"/>
              <a:t>AWS</a:t>
            </a:r>
            <a:r>
              <a:rPr lang="ja-JP" altLang="en-US" dirty="0"/>
              <a:t>でコンテナを動かすときどんな動かし方ができるか知ってもらう</a:t>
            </a:r>
            <a:r>
              <a:rPr lang="en-US" altLang="ja-JP" dirty="0"/>
              <a:t>(</a:t>
            </a:r>
            <a:r>
              <a:rPr lang="ja-JP" altLang="en-US" dirty="0"/>
              <a:t>脱</a:t>
            </a:r>
            <a:r>
              <a:rPr lang="en-US" altLang="ja-JP" dirty="0"/>
              <a:t>RPG</a:t>
            </a:r>
            <a:r>
              <a:rPr lang="ja-JP" altLang="en-US" dirty="0"/>
              <a:t>での環境の変遷を踏まえ</a:t>
            </a:r>
            <a:r>
              <a:rPr lang="en-US" altLang="ja-JP" dirty="0"/>
              <a:t>)</a:t>
            </a:r>
          </a:p>
          <a:p>
            <a:r>
              <a:rPr lang="ja-JP" altLang="en-US" dirty="0"/>
              <a:t>インフラへのマイナスイメージを払拭する</a:t>
            </a:r>
            <a:endParaRPr lang="en-US" altLang="ja-JP" dirty="0"/>
          </a:p>
          <a:p>
            <a:endParaRPr lang="en-US" altLang="ja-JP" dirty="0"/>
          </a:p>
        </p:txBody>
      </p:sp>
    </p:spTree>
    <p:extLst>
      <p:ext uri="{BB962C8B-B14F-4D97-AF65-F5344CB8AC3E}">
        <p14:creationId xmlns:p14="http://schemas.microsoft.com/office/powerpoint/2010/main" val="17535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2E3E4F-D1E8-0EC6-7014-3BBA2271EB19}"/>
              </a:ext>
            </a:extLst>
          </p:cNvPr>
          <p:cNvSpPr>
            <a:spLocks noGrp="1"/>
          </p:cNvSpPr>
          <p:nvPr>
            <p:ph type="title"/>
          </p:nvPr>
        </p:nvSpPr>
        <p:spPr/>
        <p:txBody>
          <a:bodyPr/>
          <a:lstStyle/>
          <a:p>
            <a:r>
              <a:rPr kumimoji="1" lang="ja-JP" altLang="en-US" dirty="0"/>
              <a:t>仮想化とは</a:t>
            </a:r>
          </a:p>
        </p:txBody>
      </p:sp>
      <p:sp>
        <p:nvSpPr>
          <p:cNvPr id="3" name="コンテンツ プレースホルダー 2">
            <a:extLst>
              <a:ext uri="{FF2B5EF4-FFF2-40B4-BE49-F238E27FC236}">
                <a16:creationId xmlns:a16="http://schemas.microsoft.com/office/drawing/2014/main" id="{5F9C734F-D3A0-046B-0435-E1E7842A08CE}"/>
              </a:ext>
            </a:extLst>
          </p:cNvPr>
          <p:cNvSpPr>
            <a:spLocks noGrp="1"/>
          </p:cNvSpPr>
          <p:nvPr>
            <p:ph idx="1"/>
          </p:nvPr>
        </p:nvSpPr>
        <p:spPr/>
        <p:txBody>
          <a:bodyPr>
            <a:normAutofit lnSpcReduction="10000"/>
          </a:bodyPr>
          <a:lstStyle/>
          <a:p>
            <a:r>
              <a:rPr lang="ja-JP" altLang="en-US" dirty="0"/>
              <a:t>仮想化の定義と基本的な概念</a:t>
            </a:r>
            <a:br>
              <a:rPr lang="en-US" altLang="ja-JP" sz="2400" dirty="0"/>
            </a:br>
            <a:r>
              <a:rPr lang="ja-JP" altLang="en-US" sz="1800" dirty="0"/>
              <a:t>物理的なコンピューターリソース（</a:t>
            </a:r>
            <a:r>
              <a:rPr lang="en-US" altLang="ja-JP" sz="1800" dirty="0"/>
              <a:t>CPU</a:t>
            </a:r>
            <a:r>
              <a:rPr lang="ja-JP" altLang="en-US" sz="1800" dirty="0"/>
              <a:t>、メモリ、ストレージなど）を論理的に、領域を分け領域内のリソースとして利用できるようにする技術</a:t>
            </a:r>
            <a:endParaRPr lang="en-US" altLang="ja-JP" sz="1800" dirty="0"/>
          </a:p>
          <a:p>
            <a:r>
              <a:rPr lang="ja-JP" altLang="en-US" dirty="0"/>
              <a:t>メリット</a:t>
            </a:r>
            <a:br>
              <a:rPr lang="en-US" altLang="ja-JP" dirty="0"/>
            </a:br>
            <a:r>
              <a:rPr lang="en-US" altLang="ja-JP" sz="1900" dirty="0"/>
              <a:t>- </a:t>
            </a:r>
            <a:r>
              <a:rPr lang="ja-JP" altLang="en-US" sz="1900" dirty="0"/>
              <a:t>物理サーバの数が減る</a:t>
            </a:r>
            <a:br>
              <a:rPr lang="en-US" altLang="ja-JP" sz="1900" dirty="0"/>
            </a:br>
            <a:r>
              <a:rPr lang="en-US" altLang="ja-JP" sz="1900" dirty="0"/>
              <a:t>- </a:t>
            </a:r>
            <a:r>
              <a:rPr lang="ja-JP" altLang="en-US" sz="1900" dirty="0"/>
              <a:t>使用リソースの最適化</a:t>
            </a:r>
            <a:br>
              <a:rPr lang="en-US" altLang="ja-JP" sz="1900" dirty="0"/>
            </a:br>
            <a:r>
              <a:rPr lang="en-US" altLang="ja-JP" sz="1900" dirty="0"/>
              <a:t>- </a:t>
            </a:r>
            <a:r>
              <a:rPr lang="ja-JP" altLang="en-US" sz="1900" dirty="0"/>
              <a:t>ソフトウェアツールを使用して管理することができる</a:t>
            </a:r>
            <a:br>
              <a:rPr lang="en-US" altLang="ja-JP" sz="1900" dirty="0"/>
            </a:br>
            <a:r>
              <a:rPr lang="en-US" altLang="ja-JP" sz="1900" dirty="0"/>
              <a:t>- </a:t>
            </a:r>
            <a:r>
              <a:rPr lang="ja-JP" altLang="en-US" sz="1900" dirty="0"/>
              <a:t>障害時のリカバリー速度の向上</a:t>
            </a:r>
            <a:br>
              <a:rPr lang="en-US" altLang="ja-JP" dirty="0"/>
            </a:br>
            <a:br>
              <a:rPr lang="en-US" altLang="ja-JP" dirty="0"/>
            </a:br>
            <a:br>
              <a:rPr lang="en-US" altLang="ja-JP" dirty="0"/>
            </a:br>
            <a:br>
              <a:rPr lang="en-US" altLang="ja-JP" dirty="0"/>
            </a:br>
            <a:r>
              <a:rPr lang="en-US" altLang="ja-JP" dirty="0"/>
              <a:t>https://aws.amazon.com/jp/what-is/virtualization/</a:t>
            </a:r>
            <a:br>
              <a:rPr lang="en-US" altLang="ja-JP" dirty="0"/>
            </a:br>
            <a:endParaRPr lang="en-US" altLang="ja-JP" dirty="0"/>
          </a:p>
        </p:txBody>
      </p:sp>
    </p:spTree>
    <p:extLst>
      <p:ext uri="{BB962C8B-B14F-4D97-AF65-F5344CB8AC3E}">
        <p14:creationId xmlns:p14="http://schemas.microsoft.com/office/powerpoint/2010/main" val="391285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DCA7DD-7DE2-31AA-70A8-D6E51B955325}"/>
              </a:ext>
            </a:extLst>
          </p:cNvPr>
          <p:cNvSpPr>
            <a:spLocks noGrp="1"/>
          </p:cNvSpPr>
          <p:nvPr>
            <p:ph type="title"/>
          </p:nvPr>
        </p:nvSpPr>
        <p:spPr/>
        <p:txBody>
          <a:bodyPr/>
          <a:lstStyle/>
          <a:p>
            <a:r>
              <a:rPr kumimoji="1" lang="en-US" altLang="ja-JP" dirty="0"/>
              <a:t>Linux</a:t>
            </a:r>
            <a:r>
              <a:rPr kumimoji="1" lang="ja-JP" altLang="en-US" dirty="0"/>
              <a:t>とは</a:t>
            </a:r>
          </a:p>
        </p:txBody>
      </p:sp>
      <p:sp>
        <p:nvSpPr>
          <p:cNvPr id="3" name="コンテンツ プレースホルダー 2">
            <a:extLst>
              <a:ext uri="{FF2B5EF4-FFF2-40B4-BE49-F238E27FC236}">
                <a16:creationId xmlns:a16="http://schemas.microsoft.com/office/drawing/2014/main" id="{FF485092-C56A-E56E-EE5A-A921EE81D71C}"/>
              </a:ext>
            </a:extLst>
          </p:cNvPr>
          <p:cNvSpPr>
            <a:spLocks noGrp="1"/>
          </p:cNvSpPr>
          <p:nvPr>
            <p:ph idx="1"/>
          </p:nvPr>
        </p:nvSpPr>
        <p:spPr/>
        <p:txBody>
          <a:bodyPr>
            <a:normAutofit/>
          </a:bodyPr>
          <a:lstStyle/>
          <a:p>
            <a:r>
              <a:rPr lang="en-US" altLang="ja-JP" dirty="0"/>
              <a:t>Unix</a:t>
            </a:r>
            <a:r>
              <a:rPr lang="ja-JP" altLang="en-US" dirty="0"/>
              <a:t>系のオープンソースの</a:t>
            </a:r>
            <a:r>
              <a:rPr lang="en-US" altLang="ja-JP" dirty="0"/>
              <a:t>OS</a:t>
            </a:r>
            <a:br>
              <a:rPr lang="en-US" altLang="ja-JP" sz="1800" dirty="0"/>
            </a:br>
            <a:r>
              <a:rPr lang="ja-JP" altLang="en-US" sz="1800" dirty="0"/>
              <a:t>スパコン、サーバ、パソコン、スマホなど様々なもので使われている</a:t>
            </a:r>
            <a:br>
              <a:rPr lang="en-US" altLang="ja-JP" sz="1800" dirty="0"/>
            </a:br>
            <a:r>
              <a:rPr lang="en-US" altLang="ja-JP" sz="1800" dirty="0"/>
              <a:t>PC</a:t>
            </a:r>
            <a:r>
              <a:rPr lang="ja-JP" altLang="en-US" sz="1800" dirty="0"/>
              <a:t>を一から作るときに</a:t>
            </a:r>
            <a:r>
              <a:rPr lang="en-US" altLang="ja-JP" sz="1800" dirty="0"/>
              <a:t>Windows</a:t>
            </a:r>
            <a:r>
              <a:rPr lang="ja-JP" altLang="en-US" sz="1800" dirty="0"/>
              <a:t>をインストールするとお金がかかる</a:t>
            </a:r>
            <a:endParaRPr lang="en-US" altLang="ja-JP" sz="1800" dirty="0"/>
          </a:p>
          <a:p>
            <a:r>
              <a:rPr lang="ja-JP" altLang="en-US" dirty="0"/>
              <a:t>広い意味での</a:t>
            </a:r>
            <a:r>
              <a:rPr lang="en-US" altLang="ja-JP" dirty="0"/>
              <a:t>Linux(</a:t>
            </a:r>
            <a:r>
              <a:rPr lang="ja-JP" altLang="en-US" dirty="0"/>
              <a:t>カーネル</a:t>
            </a:r>
            <a:r>
              <a:rPr lang="en-US" altLang="ja-JP" dirty="0"/>
              <a:t>)</a:t>
            </a:r>
            <a:br>
              <a:rPr lang="en-US" altLang="ja-JP" dirty="0"/>
            </a:br>
            <a:r>
              <a:rPr lang="en-US" altLang="ja-JP" sz="1800" dirty="0"/>
              <a:t>OS</a:t>
            </a:r>
            <a:r>
              <a:rPr lang="ja-JP" altLang="en-US" sz="1800" dirty="0"/>
              <a:t>のコアな部分。プロセス管理、メモリの管理などを行う。</a:t>
            </a:r>
            <a:endParaRPr lang="en-US" altLang="ja-JP" sz="1800" dirty="0"/>
          </a:p>
          <a:p>
            <a:r>
              <a:rPr lang="ja-JP" altLang="en-US" dirty="0"/>
              <a:t>狭い意味での</a:t>
            </a:r>
            <a:r>
              <a:rPr lang="en-US" altLang="ja-JP" dirty="0"/>
              <a:t>Linux(</a:t>
            </a:r>
            <a:r>
              <a:rPr lang="ja-JP" altLang="en-US" dirty="0"/>
              <a:t>ディストリビューション）</a:t>
            </a:r>
            <a:br>
              <a:rPr lang="en-US" altLang="ja-JP" dirty="0"/>
            </a:br>
            <a:r>
              <a:rPr lang="ja-JP" altLang="en-US" sz="1800" dirty="0"/>
              <a:t>ハードウェアとやり取りするためのドライバー、ライブラリ、アプリケーションをまとめてパッケージ化したもの</a:t>
            </a:r>
            <a:br>
              <a:rPr lang="en-US" altLang="ja-JP" sz="1800" dirty="0"/>
            </a:br>
            <a:r>
              <a:rPr lang="en-US" altLang="ja-JP" sz="1800" dirty="0"/>
              <a:t>&lt;</a:t>
            </a:r>
            <a:r>
              <a:rPr lang="ja-JP" altLang="en-US" sz="1800" dirty="0"/>
              <a:t>例</a:t>
            </a:r>
            <a:r>
              <a:rPr lang="en-US" altLang="ja-JP" sz="1800" dirty="0"/>
              <a:t>&gt;</a:t>
            </a:r>
            <a:br>
              <a:rPr lang="en-US" altLang="ja-JP" sz="1800" dirty="0"/>
            </a:br>
            <a:r>
              <a:rPr lang="en-US" altLang="ja-JP" sz="1800" dirty="0"/>
              <a:t>CentOS</a:t>
            </a:r>
            <a:br>
              <a:rPr lang="en-US" altLang="ja-JP" sz="1800" dirty="0"/>
            </a:br>
            <a:r>
              <a:rPr lang="en-US" altLang="ja-JP" sz="1800" dirty="0"/>
              <a:t>RedHat</a:t>
            </a:r>
            <a:br>
              <a:rPr lang="en-US" altLang="ja-JP" sz="1800" dirty="0"/>
            </a:br>
            <a:r>
              <a:rPr lang="en-US" altLang="ja-JP" sz="1800" dirty="0"/>
              <a:t>Ubuntu</a:t>
            </a:r>
            <a:br>
              <a:rPr lang="en-US" altLang="ja-JP" sz="1800" dirty="0"/>
            </a:br>
            <a:r>
              <a:rPr lang="en-US" altLang="ja-JP" sz="1800" dirty="0"/>
              <a:t>Debian</a:t>
            </a:r>
            <a:r>
              <a:rPr lang="ja-JP" altLang="en-US" sz="1800" dirty="0"/>
              <a:t> </a:t>
            </a:r>
            <a:r>
              <a:rPr lang="en-US" altLang="ja-JP" sz="1800" dirty="0" err="1"/>
              <a:t>etc</a:t>
            </a:r>
            <a:endParaRPr lang="en-US" altLang="ja-JP" sz="1800" dirty="0"/>
          </a:p>
        </p:txBody>
      </p:sp>
      <p:pic>
        <p:nvPicPr>
          <p:cNvPr id="1026" name="Picture 2" descr="Linux 学習ロードマップ | ほげほげテクノロジー">
            <a:extLst>
              <a:ext uri="{FF2B5EF4-FFF2-40B4-BE49-F238E27FC236}">
                <a16:creationId xmlns:a16="http://schemas.microsoft.com/office/drawing/2014/main" id="{F7CBA885-E8E8-1D91-CE13-A5AA85B3E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0" y="4424363"/>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486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8AA6-BD47-3193-8B58-C24E0CCD93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453F96-F92E-4804-879A-8A5C0FF4C3CD}"/>
              </a:ext>
            </a:extLst>
          </p:cNvPr>
          <p:cNvSpPr>
            <a:spLocks noGrp="1"/>
          </p:cNvSpPr>
          <p:nvPr>
            <p:ph type="title"/>
          </p:nvPr>
        </p:nvSpPr>
        <p:spPr/>
        <p:txBody>
          <a:bodyPr/>
          <a:lstStyle/>
          <a:p>
            <a:r>
              <a:rPr lang="ja-JP" altLang="en-US" dirty="0"/>
              <a:t>コンテナ</a:t>
            </a:r>
            <a:r>
              <a:rPr kumimoji="1" lang="ja-JP" altLang="en-US" dirty="0"/>
              <a:t>とは</a:t>
            </a:r>
          </a:p>
        </p:txBody>
      </p:sp>
      <p:sp>
        <p:nvSpPr>
          <p:cNvPr id="3" name="コンテンツ プレースホルダー 2">
            <a:extLst>
              <a:ext uri="{FF2B5EF4-FFF2-40B4-BE49-F238E27FC236}">
                <a16:creationId xmlns:a16="http://schemas.microsoft.com/office/drawing/2014/main" id="{F2D8653A-194E-4A91-39C8-F9A116853A9C}"/>
              </a:ext>
            </a:extLst>
          </p:cNvPr>
          <p:cNvSpPr>
            <a:spLocks noGrp="1"/>
          </p:cNvSpPr>
          <p:nvPr>
            <p:ph idx="1"/>
          </p:nvPr>
        </p:nvSpPr>
        <p:spPr/>
        <p:txBody>
          <a:bodyPr>
            <a:normAutofit/>
          </a:bodyPr>
          <a:lstStyle/>
          <a:p>
            <a:r>
              <a:rPr lang="ja-JP" altLang="en-US" dirty="0"/>
              <a:t>コンテナの定義</a:t>
            </a:r>
            <a:br>
              <a:rPr lang="en-US" altLang="ja-JP" dirty="0"/>
            </a:br>
            <a:r>
              <a:rPr lang="ja-JP" altLang="en-US" sz="1800" dirty="0"/>
              <a:t>アプリケーション仮想化の一つ</a:t>
            </a:r>
            <a:br>
              <a:rPr lang="en-US" altLang="ja-JP" sz="1800" dirty="0"/>
            </a:br>
            <a:r>
              <a:rPr lang="ja-JP" altLang="en-US" sz="1800" dirty="0"/>
              <a:t>アプリケーションの実行に必要なファイル、ライブラリ、設定などをパッケージ化し、他の環境から独立した実行環境を提供する技術。</a:t>
            </a:r>
            <a:endParaRPr lang="en-US" altLang="ja-JP" sz="1800" dirty="0"/>
          </a:p>
          <a:p>
            <a:endParaRPr lang="en-US" altLang="ja-JP" sz="1800" dirty="0"/>
          </a:p>
          <a:p>
            <a:r>
              <a:rPr lang="ja-JP" altLang="en-US" dirty="0"/>
              <a:t>コンテナエンジン</a:t>
            </a:r>
            <a:br>
              <a:rPr lang="en-US" altLang="ja-JP" dirty="0"/>
            </a:br>
            <a:r>
              <a:rPr lang="ja-JP" altLang="en-US" sz="1800" dirty="0"/>
              <a:t>コンテナイメージからコンテナを作成し、実行するためのソフトウェア。</a:t>
            </a:r>
            <a:r>
              <a:rPr lang="en-US" altLang="ja-JP" sz="1800" dirty="0"/>
              <a:t>Docker</a:t>
            </a:r>
            <a:r>
              <a:rPr lang="ja-JP" altLang="en-US" sz="1800" dirty="0"/>
              <a:t>が有名</a:t>
            </a:r>
            <a:br>
              <a:rPr lang="en-US" altLang="ja-JP" sz="1800" dirty="0"/>
            </a:br>
            <a:endParaRPr lang="en-US" altLang="ja-JP" sz="1800" dirty="0"/>
          </a:p>
          <a:p>
            <a:r>
              <a:rPr lang="ja-JP" altLang="en-US" dirty="0"/>
              <a:t>コンテナを利用するメリット</a:t>
            </a:r>
            <a:br>
              <a:rPr lang="en-US" altLang="ja-JP" sz="1800" dirty="0"/>
            </a:br>
            <a:r>
              <a:rPr lang="en-US" altLang="ja-JP" sz="1800" dirty="0"/>
              <a:t>- </a:t>
            </a:r>
            <a:r>
              <a:rPr lang="ja-JP" altLang="en-US" sz="1800" dirty="0"/>
              <a:t>アプリデプロイの高速化</a:t>
            </a:r>
            <a:br>
              <a:rPr lang="en-US" altLang="ja-JP" sz="1800" dirty="0"/>
            </a:br>
            <a:r>
              <a:rPr lang="en-US" altLang="ja-JP" sz="1800" dirty="0"/>
              <a:t>-</a:t>
            </a:r>
            <a:r>
              <a:rPr lang="ja-JP" altLang="en-US" sz="1800" dirty="0"/>
              <a:t> リソース利用の効率化</a:t>
            </a:r>
            <a:br>
              <a:rPr lang="en-US" altLang="ja-JP" sz="1800" dirty="0"/>
            </a:br>
            <a:r>
              <a:rPr lang="en-US" altLang="ja-JP" sz="1800" dirty="0"/>
              <a:t>- </a:t>
            </a:r>
            <a:r>
              <a:rPr lang="ja-JP" altLang="en-US" sz="1800" dirty="0"/>
              <a:t>環境に依存しないアプリ実行環境を用意できる</a:t>
            </a:r>
            <a:br>
              <a:rPr lang="en-US" altLang="ja-JP" sz="1800" dirty="0"/>
            </a:br>
            <a:endParaRPr lang="en-US" altLang="ja-JP" sz="1800" dirty="0"/>
          </a:p>
        </p:txBody>
      </p:sp>
    </p:spTree>
    <p:extLst>
      <p:ext uri="{BB962C8B-B14F-4D97-AF65-F5344CB8AC3E}">
        <p14:creationId xmlns:p14="http://schemas.microsoft.com/office/powerpoint/2010/main" val="175039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9EEF3A-5576-7131-47A9-381DA584835F}"/>
              </a:ext>
            </a:extLst>
          </p:cNvPr>
          <p:cNvSpPr>
            <a:spLocks noGrp="1"/>
          </p:cNvSpPr>
          <p:nvPr>
            <p:ph type="title"/>
          </p:nvPr>
        </p:nvSpPr>
        <p:spPr>
          <a:xfrm>
            <a:off x="838200" y="365125"/>
            <a:ext cx="10515600" cy="1325563"/>
          </a:xfrm>
        </p:spPr>
        <p:txBody>
          <a:bodyPr anchor="ctr">
            <a:normAutofit/>
          </a:bodyPr>
          <a:lstStyle/>
          <a:p>
            <a:r>
              <a:rPr lang="en-US" altLang="ja-JP" dirty="0"/>
              <a:t>Docker</a:t>
            </a:r>
            <a:r>
              <a:rPr lang="ja-JP" altLang="en-US" dirty="0"/>
              <a:t>コンテナが動くまで</a:t>
            </a:r>
            <a:endParaRPr kumimoji="1" lang="ja-JP" altLang="en-US" dirty="0"/>
          </a:p>
        </p:txBody>
      </p:sp>
      <p:pic>
        <p:nvPicPr>
          <p:cNvPr id="5" name="コンテンツ プレースホルダー 4">
            <a:extLst>
              <a:ext uri="{FF2B5EF4-FFF2-40B4-BE49-F238E27FC236}">
                <a16:creationId xmlns:a16="http://schemas.microsoft.com/office/drawing/2014/main" id="{30D447CA-81B1-63D4-B9C2-8C300F81A739}"/>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38200" y="2501321"/>
            <a:ext cx="10515600" cy="2999945"/>
          </a:xfrm>
        </p:spPr>
      </p:pic>
    </p:spTree>
    <p:extLst>
      <p:ext uri="{BB962C8B-B14F-4D97-AF65-F5344CB8AC3E}">
        <p14:creationId xmlns:p14="http://schemas.microsoft.com/office/powerpoint/2010/main" val="339833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3FF092-BF45-DA3E-E9EE-A66B9433C3CC}"/>
              </a:ext>
            </a:extLst>
          </p:cNvPr>
          <p:cNvSpPr>
            <a:spLocks noGrp="1"/>
          </p:cNvSpPr>
          <p:nvPr>
            <p:ph type="title"/>
          </p:nvPr>
        </p:nvSpPr>
        <p:spPr/>
        <p:txBody>
          <a:bodyPr/>
          <a:lstStyle/>
          <a:p>
            <a:r>
              <a:rPr kumimoji="1" lang="en-US" altLang="ja-JP" dirty="0"/>
              <a:t>AWS</a:t>
            </a:r>
            <a:r>
              <a:rPr lang="ja-JP" altLang="en-US" dirty="0"/>
              <a:t>を用いてコンテナを動かすときの選択肢</a:t>
            </a:r>
            <a:endParaRPr kumimoji="1" lang="ja-JP" altLang="en-US" dirty="0"/>
          </a:p>
        </p:txBody>
      </p:sp>
      <p:pic>
        <p:nvPicPr>
          <p:cNvPr id="5" name="コンテンツ プレースホルダー 4">
            <a:extLst>
              <a:ext uri="{FF2B5EF4-FFF2-40B4-BE49-F238E27FC236}">
                <a16:creationId xmlns:a16="http://schemas.microsoft.com/office/drawing/2014/main" id="{FB6668B4-FE61-DFF4-D2D4-284317EDC282}"/>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990601" y="1488274"/>
            <a:ext cx="6059584" cy="4802989"/>
          </a:xfrm>
        </p:spPr>
      </p:pic>
      <p:sp>
        <p:nvSpPr>
          <p:cNvPr id="6" name="テキスト ボックス 5">
            <a:extLst>
              <a:ext uri="{FF2B5EF4-FFF2-40B4-BE49-F238E27FC236}">
                <a16:creationId xmlns:a16="http://schemas.microsoft.com/office/drawing/2014/main" id="{81E01FF5-FC7E-175A-03B3-6D624B209BEF}"/>
              </a:ext>
            </a:extLst>
          </p:cNvPr>
          <p:cNvSpPr txBox="1"/>
          <p:nvPr/>
        </p:nvSpPr>
        <p:spPr>
          <a:xfrm>
            <a:off x="7306516" y="2155316"/>
            <a:ext cx="3894883" cy="923330"/>
          </a:xfrm>
          <a:prstGeom prst="rect">
            <a:avLst/>
          </a:prstGeom>
          <a:noFill/>
        </p:spPr>
        <p:txBody>
          <a:bodyPr wrap="square" rtlCol="0">
            <a:spAutoFit/>
          </a:bodyPr>
          <a:lstStyle/>
          <a:p>
            <a:r>
              <a:rPr kumimoji="1" lang="ja-JP" altLang="en-US" dirty="0"/>
              <a:t>コントロールプレーン </a:t>
            </a:r>
            <a:r>
              <a:rPr kumimoji="1" lang="en-US" altLang="ja-JP" dirty="0"/>
              <a:t>:</a:t>
            </a:r>
          </a:p>
          <a:p>
            <a:r>
              <a:rPr kumimoji="1" lang="ja-JP" altLang="en-US" dirty="0"/>
              <a:t>どのようにコンテナが動くかを制御するもの</a:t>
            </a:r>
          </a:p>
        </p:txBody>
      </p:sp>
      <p:sp>
        <p:nvSpPr>
          <p:cNvPr id="8" name="テキスト ボックス 7">
            <a:extLst>
              <a:ext uri="{FF2B5EF4-FFF2-40B4-BE49-F238E27FC236}">
                <a16:creationId xmlns:a16="http://schemas.microsoft.com/office/drawing/2014/main" id="{E54FBB67-5624-D045-2971-81BFBEF4CF6B}"/>
              </a:ext>
            </a:extLst>
          </p:cNvPr>
          <p:cNvSpPr txBox="1"/>
          <p:nvPr/>
        </p:nvSpPr>
        <p:spPr>
          <a:xfrm>
            <a:off x="7306516" y="4154270"/>
            <a:ext cx="3486150" cy="1200329"/>
          </a:xfrm>
          <a:prstGeom prst="rect">
            <a:avLst/>
          </a:prstGeom>
          <a:noFill/>
        </p:spPr>
        <p:txBody>
          <a:bodyPr wrap="square" rtlCol="0">
            <a:spAutoFit/>
          </a:bodyPr>
          <a:lstStyle/>
          <a:p>
            <a:r>
              <a:rPr lang="ja-JP" altLang="en-US" dirty="0"/>
              <a:t>データ</a:t>
            </a:r>
            <a:r>
              <a:rPr kumimoji="1" lang="ja-JP" altLang="en-US" dirty="0"/>
              <a:t>プレーン </a:t>
            </a:r>
            <a:r>
              <a:rPr kumimoji="1" lang="en-US" altLang="ja-JP" dirty="0"/>
              <a:t>:</a:t>
            </a:r>
            <a:br>
              <a:rPr kumimoji="1" lang="en-US" altLang="ja-JP" dirty="0"/>
            </a:br>
            <a:r>
              <a:rPr kumimoji="1" lang="ja-JP" altLang="en-US" dirty="0"/>
              <a:t>コントロールプレーンから受けた制御をもとにコンテナが動く場所</a:t>
            </a:r>
            <a:endParaRPr kumimoji="1" lang="en-US" altLang="ja-JP" dirty="0"/>
          </a:p>
        </p:txBody>
      </p:sp>
    </p:spTree>
    <p:extLst>
      <p:ext uri="{BB962C8B-B14F-4D97-AF65-F5344CB8AC3E}">
        <p14:creationId xmlns:p14="http://schemas.microsoft.com/office/powerpoint/2010/main" val="287986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C34B9-988E-3647-FA5A-00FB5D20CA1A}"/>
              </a:ext>
            </a:extLst>
          </p:cNvPr>
          <p:cNvSpPr>
            <a:spLocks noGrp="1"/>
          </p:cNvSpPr>
          <p:nvPr>
            <p:ph type="title"/>
          </p:nvPr>
        </p:nvSpPr>
        <p:spPr/>
        <p:txBody>
          <a:bodyPr/>
          <a:lstStyle/>
          <a:p>
            <a:r>
              <a:rPr lang="ja-JP" altLang="en-US" dirty="0"/>
              <a:t>それぞれの特徴</a:t>
            </a:r>
            <a:r>
              <a:rPr lang="en-US" altLang="ja-JP" dirty="0"/>
              <a:t>(</a:t>
            </a:r>
            <a:r>
              <a:rPr lang="ja-JP" altLang="en-US" dirty="0"/>
              <a:t>データプレーン</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B1592014-BC2E-D2F2-BC8D-88480424CEEE}"/>
              </a:ext>
            </a:extLst>
          </p:cNvPr>
          <p:cNvSpPr>
            <a:spLocks noGrp="1"/>
          </p:cNvSpPr>
          <p:nvPr>
            <p:ph idx="1"/>
          </p:nvPr>
        </p:nvSpPr>
        <p:spPr>
          <a:xfrm>
            <a:off x="838200" y="1825624"/>
            <a:ext cx="10515600" cy="4057939"/>
          </a:xfrm>
        </p:spPr>
        <p:txBody>
          <a:bodyPr>
            <a:normAutofit/>
          </a:bodyPr>
          <a:lstStyle/>
          <a:p>
            <a:r>
              <a:rPr kumimoji="1" lang="en-US" altLang="ja-JP" dirty="0"/>
              <a:t>EKS</a:t>
            </a:r>
            <a:br>
              <a:rPr kumimoji="1" lang="en-US" altLang="ja-JP" dirty="0"/>
            </a:br>
            <a:r>
              <a:rPr kumimoji="1" lang="en-US" altLang="ja-JP" dirty="0" err="1"/>
              <a:t>kubenetes</a:t>
            </a:r>
            <a:r>
              <a:rPr kumimoji="1" lang="ja-JP" altLang="en-US" dirty="0"/>
              <a:t>という広く使われている</a:t>
            </a:r>
            <a:r>
              <a:rPr lang="ja-JP" altLang="en-US" dirty="0"/>
              <a:t>コンテナを管理するプラットフォームを使用している</a:t>
            </a:r>
            <a:endParaRPr lang="en-US" altLang="ja-JP" dirty="0"/>
          </a:p>
          <a:p>
            <a:pPr marL="0" indent="0">
              <a:buNone/>
            </a:pPr>
            <a:r>
              <a:rPr lang="ja-JP" altLang="en-US" dirty="0"/>
              <a:t>  できることが多い、自由度が高い</a:t>
            </a:r>
            <a:endParaRPr lang="en-US" altLang="ja-JP" dirty="0"/>
          </a:p>
          <a:p>
            <a:r>
              <a:rPr kumimoji="1" lang="en-US" altLang="ja-JP" dirty="0"/>
              <a:t>ECS</a:t>
            </a:r>
          </a:p>
          <a:p>
            <a:pPr marL="0" indent="0">
              <a:buNone/>
            </a:pPr>
            <a:r>
              <a:rPr kumimoji="1" lang="en-US" altLang="ja-JP" dirty="0"/>
              <a:t>  AWS</a:t>
            </a:r>
            <a:r>
              <a:rPr kumimoji="1" lang="ja-JP" altLang="en-US" dirty="0"/>
              <a:t>によって完全に管理されている</a:t>
            </a:r>
            <a:br>
              <a:rPr kumimoji="1" lang="en-US" altLang="ja-JP" dirty="0"/>
            </a:br>
            <a:r>
              <a:rPr lang="ja-JP" altLang="en-US" dirty="0"/>
              <a:t>  必要な知識が</a:t>
            </a:r>
            <a:r>
              <a:rPr lang="en-US" altLang="ja-JP" dirty="0"/>
              <a:t>AWS,ECS</a:t>
            </a:r>
            <a:r>
              <a:rPr lang="ja-JP" altLang="en-US" dirty="0"/>
              <a:t>のみの知識でよいため、学習コストが低　　い</a:t>
            </a:r>
            <a:br>
              <a:rPr kumimoji="1" lang="en-US" altLang="ja-JP" dirty="0"/>
            </a:br>
            <a:endParaRPr kumimoji="1" lang="ja-JP" altLang="en-US" dirty="0"/>
          </a:p>
        </p:txBody>
      </p:sp>
    </p:spTree>
    <p:extLst>
      <p:ext uri="{BB962C8B-B14F-4D97-AF65-F5344CB8AC3E}">
        <p14:creationId xmlns:p14="http://schemas.microsoft.com/office/powerpoint/2010/main" val="2968426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F5BC0-9483-3461-E1D4-659DB27A3C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4CB2A3-DD33-9A8D-9E53-46F3D0DCA6E3}"/>
              </a:ext>
            </a:extLst>
          </p:cNvPr>
          <p:cNvSpPr>
            <a:spLocks noGrp="1"/>
          </p:cNvSpPr>
          <p:nvPr>
            <p:ph type="title"/>
          </p:nvPr>
        </p:nvSpPr>
        <p:spPr/>
        <p:txBody>
          <a:bodyPr/>
          <a:lstStyle/>
          <a:p>
            <a:r>
              <a:rPr lang="ja-JP" altLang="en-US" dirty="0"/>
              <a:t>それぞれの特徴</a:t>
            </a:r>
            <a:r>
              <a:rPr lang="en-US" altLang="ja-JP" dirty="0"/>
              <a:t>(</a:t>
            </a:r>
            <a:r>
              <a:rPr lang="ja-JP" altLang="en-US" dirty="0"/>
              <a:t>コントロールプレーン</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ACE2E751-1E8E-B676-71A5-85DDF0CB49AB}"/>
              </a:ext>
            </a:extLst>
          </p:cNvPr>
          <p:cNvSpPr>
            <a:spLocks noGrp="1"/>
          </p:cNvSpPr>
          <p:nvPr>
            <p:ph idx="1"/>
          </p:nvPr>
        </p:nvSpPr>
        <p:spPr>
          <a:xfrm>
            <a:off x="838200" y="1825624"/>
            <a:ext cx="10515600" cy="4518026"/>
          </a:xfrm>
        </p:spPr>
        <p:txBody>
          <a:bodyPr>
            <a:normAutofit/>
          </a:bodyPr>
          <a:lstStyle/>
          <a:p>
            <a:r>
              <a:rPr lang="en-US" altLang="ja-JP" dirty="0"/>
              <a:t>AWS</a:t>
            </a:r>
            <a:r>
              <a:rPr lang="ja-JP" altLang="en-US" dirty="0"/>
              <a:t> </a:t>
            </a:r>
            <a:r>
              <a:rPr lang="en-US" altLang="ja-JP" dirty="0" err="1"/>
              <a:t>Fargate</a:t>
            </a:r>
            <a:br>
              <a:rPr kumimoji="1" lang="en-US" altLang="ja-JP" dirty="0"/>
            </a:br>
            <a:r>
              <a:rPr kumimoji="1" lang="ja-JP" altLang="en-US" dirty="0"/>
              <a:t>マネージドなコンテナの実行環境</a:t>
            </a:r>
            <a:endParaRPr kumimoji="1" lang="en-US" altLang="ja-JP" dirty="0"/>
          </a:p>
          <a:p>
            <a:pPr marL="0" indent="0">
              <a:buNone/>
            </a:pPr>
            <a:r>
              <a:rPr kumimoji="1" lang="en-US" altLang="ja-JP" dirty="0"/>
              <a:t>  </a:t>
            </a:r>
            <a:r>
              <a:rPr kumimoji="1" lang="ja-JP" altLang="en-US" dirty="0"/>
              <a:t>サーバレス</a:t>
            </a:r>
            <a:r>
              <a:rPr lang="ja-JP" altLang="en-US" dirty="0"/>
              <a:t>なため、インフラの管理コストが減る</a:t>
            </a:r>
            <a:br>
              <a:rPr kumimoji="1" lang="en-US" altLang="ja-JP" dirty="0"/>
            </a:br>
            <a:r>
              <a:rPr lang="ja-JP" altLang="en-US" dirty="0"/>
              <a:t>  スケーリングがシンプル</a:t>
            </a:r>
            <a:endParaRPr kumimoji="1" lang="en-US" altLang="ja-JP" dirty="0"/>
          </a:p>
          <a:p>
            <a:r>
              <a:rPr lang="en-US" altLang="ja-JP" dirty="0"/>
              <a:t>EC2</a:t>
            </a:r>
            <a:endParaRPr kumimoji="1" lang="en-US" altLang="ja-JP" dirty="0"/>
          </a:p>
          <a:p>
            <a:pPr marL="0" indent="0">
              <a:buNone/>
            </a:pPr>
            <a:r>
              <a:rPr lang="ja-JP" altLang="en-US" dirty="0"/>
              <a:t>  </a:t>
            </a:r>
            <a:r>
              <a:rPr kumimoji="1" lang="ja-JP" altLang="en-US" dirty="0"/>
              <a:t>リソース自由度が高い</a:t>
            </a:r>
            <a:br>
              <a:rPr kumimoji="1" lang="en-US" altLang="ja-JP" dirty="0"/>
            </a:br>
            <a:r>
              <a:rPr lang="ja-JP" altLang="en-US" dirty="0"/>
              <a:t>  柔軟な制御ができる</a:t>
            </a:r>
            <a:br>
              <a:rPr lang="en-US" altLang="ja-JP" dirty="0"/>
            </a:br>
            <a:r>
              <a:rPr lang="ja-JP" altLang="en-US" dirty="0"/>
              <a:t>  スケーリングが複雑</a:t>
            </a:r>
            <a:r>
              <a:rPr lang="en-US" altLang="ja-JP" dirty="0"/>
              <a:t>(Auto Scaling</a:t>
            </a:r>
            <a:r>
              <a:rPr lang="ja-JP" altLang="en-US" dirty="0"/>
              <a:t>などを使用する必要がある</a:t>
            </a:r>
            <a:r>
              <a:rPr lang="en-US" altLang="ja-JP" dirty="0"/>
              <a:t>)</a:t>
            </a:r>
            <a:br>
              <a:rPr kumimoji="1" lang="en-US" altLang="ja-JP" dirty="0"/>
            </a:br>
            <a:endParaRPr kumimoji="1" lang="ja-JP" altLang="en-US" dirty="0"/>
          </a:p>
        </p:txBody>
      </p:sp>
    </p:spTree>
    <p:extLst>
      <p:ext uri="{BB962C8B-B14F-4D97-AF65-F5344CB8AC3E}">
        <p14:creationId xmlns:p14="http://schemas.microsoft.com/office/powerpoint/2010/main" val="577177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E9A87E-559C-75FA-A1AA-B548B9AD8FDD}"/>
              </a:ext>
            </a:extLst>
          </p:cNvPr>
          <p:cNvSpPr>
            <a:spLocks noGrp="1"/>
          </p:cNvSpPr>
          <p:nvPr>
            <p:ph type="title"/>
          </p:nvPr>
        </p:nvSpPr>
        <p:spPr/>
        <p:txBody>
          <a:bodyPr/>
          <a:lstStyle/>
          <a:p>
            <a:r>
              <a:rPr kumimoji="1" lang="en-US" altLang="ja-JP" dirty="0" err="1"/>
              <a:t>ECS&amp;Fargate</a:t>
            </a:r>
            <a:r>
              <a:rPr kumimoji="1" lang="ja-JP" altLang="en-US" dirty="0"/>
              <a:t>から</a:t>
            </a:r>
            <a:r>
              <a:rPr kumimoji="1" lang="en-US" altLang="ja-JP" dirty="0"/>
              <a:t>EKS&amp;EC2</a:t>
            </a:r>
            <a:r>
              <a:rPr kumimoji="1" lang="ja-JP" altLang="en-US" dirty="0"/>
              <a:t>に変わった理由</a:t>
            </a:r>
          </a:p>
        </p:txBody>
      </p:sp>
      <p:sp>
        <p:nvSpPr>
          <p:cNvPr id="3" name="コンテンツ プレースホルダー 2">
            <a:extLst>
              <a:ext uri="{FF2B5EF4-FFF2-40B4-BE49-F238E27FC236}">
                <a16:creationId xmlns:a16="http://schemas.microsoft.com/office/drawing/2014/main" id="{0182AD95-2BD2-0A67-1521-51B192EED439}"/>
              </a:ext>
            </a:extLst>
          </p:cNvPr>
          <p:cNvSpPr>
            <a:spLocks noGrp="1"/>
          </p:cNvSpPr>
          <p:nvPr>
            <p:ph idx="1"/>
          </p:nvPr>
        </p:nvSpPr>
        <p:spPr/>
        <p:txBody>
          <a:bodyPr>
            <a:normAutofit lnSpcReduction="10000"/>
          </a:bodyPr>
          <a:lstStyle/>
          <a:p>
            <a:r>
              <a:rPr lang="ja-JP" altLang="en-US" dirty="0"/>
              <a:t>コンテナのリポジトリ</a:t>
            </a:r>
            <a:r>
              <a:rPr lang="en-US" altLang="ja-JP" dirty="0"/>
              <a:t>(</a:t>
            </a:r>
            <a:r>
              <a:rPr lang="ja-JP" altLang="en-US" dirty="0"/>
              <a:t>車のガレージ</a:t>
            </a:r>
            <a:r>
              <a:rPr lang="en-US" altLang="ja-JP" dirty="0"/>
              <a:t>)</a:t>
            </a:r>
            <a:r>
              <a:rPr lang="ja-JP" altLang="en-US" dirty="0"/>
              <a:t>が</a:t>
            </a:r>
            <a:r>
              <a:rPr lang="en-US" altLang="ja-JP" dirty="0"/>
              <a:t>AWS</a:t>
            </a:r>
            <a:r>
              <a:rPr lang="ja-JP" altLang="en-US" dirty="0"/>
              <a:t>管理外にある</a:t>
            </a:r>
            <a:br>
              <a:rPr lang="en-US" altLang="ja-JP" dirty="0"/>
            </a:br>
            <a:r>
              <a:rPr lang="en-US" altLang="ja-JP" sz="1800" dirty="0" err="1"/>
              <a:t>Github</a:t>
            </a:r>
            <a:r>
              <a:rPr lang="en-US" altLang="ja-JP" sz="1800" dirty="0"/>
              <a:t> Container Registry</a:t>
            </a:r>
            <a:r>
              <a:rPr lang="ja-JP" altLang="en-US" sz="1800" dirty="0"/>
              <a:t>を使いたいというお客様の意向</a:t>
            </a:r>
            <a:br>
              <a:rPr lang="en-US" altLang="ja-JP" sz="1800" dirty="0"/>
            </a:br>
            <a:r>
              <a:rPr lang="en-US" altLang="ja-JP" sz="1800" dirty="0"/>
              <a:t>AWS</a:t>
            </a:r>
            <a:r>
              <a:rPr lang="ja-JP" altLang="en-US" sz="1800" dirty="0"/>
              <a:t>管理のコンテナのリポジトリは</a:t>
            </a:r>
            <a:r>
              <a:rPr lang="en-US" altLang="ja-JP" sz="1800" dirty="0"/>
              <a:t>ECR</a:t>
            </a:r>
          </a:p>
          <a:p>
            <a:r>
              <a:rPr lang="ja-JP" altLang="en-US" dirty="0"/>
              <a:t>外からコンテナイメージを持ってくるときに</a:t>
            </a:r>
            <a:r>
              <a:rPr lang="en-US" altLang="ja-JP" dirty="0"/>
              <a:t>Cato</a:t>
            </a:r>
            <a:r>
              <a:rPr lang="ja-JP" altLang="en-US" dirty="0"/>
              <a:t>を通るが</a:t>
            </a:r>
            <a:r>
              <a:rPr lang="en-US" altLang="ja-JP" dirty="0"/>
              <a:t>Cato</a:t>
            </a:r>
            <a:r>
              <a:rPr lang="ja-JP" altLang="en-US" dirty="0"/>
              <a:t>の証明書がないと外部にアクセスできない。ホストが証明書をもっていないと車を出庫できない</a:t>
            </a:r>
            <a:br>
              <a:rPr lang="en-US" altLang="ja-JP" dirty="0"/>
            </a:br>
            <a:endParaRPr lang="en-US" altLang="ja-JP" dirty="0"/>
          </a:p>
          <a:p>
            <a:r>
              <a:rPr lang="en-US" altLang="ja-JP" dirty="0" err="1"/>
              <a:t>Fargate</a:t>
            </a:r>
            <a:r>
              <a:rPr lang="ja-JP" altLang="en-US" dirty="0"/>
              <a:t>にはホストに証明書を配備する仕組みがなく</a:t>
            </a:r>
            <a:r>
              <a:rPr lang="en-US" altLang="ja-JP" dirty="0" err="1"/>
              <a:t>Github</a:t>
            </a:r>
            <a:r>
              <a:rPr lang="en-US" altLang="ja-JP" dirty="0"/>
              <a:t> Container Registry</a:t>
            </a:r>
            <a:r>
              <a:rPr lang="ja-JP" altLang="en-US" dirty="0"/>
              <a:t>からイメージをデプロイすることができない</a:t>
            </a:r>
            <a:endParaRPr lang="en-US" altLang="ja-JP" dirty="0"/>
          </a:p>
          <a:p>
            <a:r>
              <a:rPr lang="en-US" altLang="ja-JP" dirty="0"/>
              <a:t>EKS</a:t>
            </a:r>
            <a:r>
              <a:rPr lang="ja-JP" altLang="en-US" dirty="0"/>
              <a:t>＆</a:t>
            </a:r>
            <a:r>
              <a:rPr lang="en-US" altLang="ja-JP" dirty="0"/>
              <a:t>EC2</a:t>
            </a:r>
            <a:r>
              <a:rPr lang="ja-JP" altLang="en-US" dirty="0"/>
              <a:t>なら実現可能ということで</a:t>
            </a:r>
            <a:r>
              <a:rPr lang="en-US" altLang="ja-JP" dirty="0"/>
              <a:t>EKS</a:t>
            </a:r>
            <a:r>
              <a:rPr lang="ja-JP" altLang="en-US" dirty="0"/>
              <a:t>＆</a:t>
            </a:r>
            <a:r>
              <a:rPr lang="en-US" altLang="ja-JP" dirty="0"/>
              <a:t>EC2</a:t>
            </a:r>
            <a:r>
              <a:rPr lang="ja-JP" altLang="en-US" dirty="0"/>
              <a:t>に変更した</a:t>
            </a:r>
            <a:endParaRPr lang="en-US" altLang="ja-JP" dirty="0"/>
          </a:p>
          <a:p>
            <a:endParaRPr kumimoji="1" lang="ja-JP" altLang="en-US" dirty="0"/>
          </a:p>
        </p:txBody>
      </p:sp>
    </p:spTree>
    <p:extLst>
      <p:ext uri="{BB962C8B-B14F-4D97-AF65-F5344CB8AC3E}">
        <p14:creationId xmlns:p14="http://schemas.microsoft.com/office/powerpoint/2010/main" val="2614410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13F691-4FE7-55A6-9E14-12CE2A4368EE}"/>
              </a:ext>
            </a:extLst>
          </p:cNvPr>
          <p:cNvSpPr>
            <a:spLocks noGrp="1"/>
          </p:cNvSpPr>
          <p:nvPr>
            <p:ph type="title"/>
          </p:nvPr>
        </p:nvSpPr>
        <p:spPr/>
        <p:txBody>
          <a:bodyPr/>
          <a:lstStyle/>
          <a:p>
            <a:r>
              <a:rPr kumimoji="1" lang="ja-JP" altLang="en-US" dirty="0"/>
              <a:t>私見</a:t>
            </a:r>
          </a:p>
        </p:txBody>
      </p:sp>
      <p:sp>
        <p:nvSpPr>
          <p:cNvPr id="3" name="コンテンツ プレースホルダー 2">
            <a:extLst>
              <a:ext uri="{FF2B5EF4-FFF2-40B4-BE49-F238E27FC236}">
                <a16:creationId xmlns:a16="http://schemas.microsoft.com/office/drawing/2014/main" id="{24FC1135-A052-8E7A-39E4-36F132018456}"/>
              </a:ext>
            </a:extLst>
          </p:cNvPr>
          <p:cNvSpPr>
            <a:spLocks noGrp="1"/>
          </p:cNvSpPr>
          <p:nvPr>
            <p:ph idx="1"/>
          </p:nvPr>
        </p:nvSpPr>
        <p:spPr/>
        <p:txBody>
          <a:bodyPr/>
          <a:lstStyle/>
          <a:p>
            <a:r>
              <a:rPr lang="ja-JP" altLang="en-US" dirty="0"/>
              <a:t>結論</a:t>
            </a:r>
            <a:br>
              <a:rPr lang="en-US" altLang="ja-JP" dirty="0"/>
            </a:br>
            <a:r>
              <a:rPr lang="en-US" altLang="ja-JP" dirty="0"/>
              <a:t>ECS&amp;EC2</a:t>
            </a:r>
            <a:r>
              <a:rPr lang="ja-JP" altLang="en-US" dirty="0"/>
              <a:t>でも証明書をマウントして外部と接続することはできそう。</a:t>
            </a:r>
            <a:br>
              <a:rPr lang="en-US" altLang="ja-JP" dirty="0"/>
            </a:br>
            <a:r>
              <a:rPr lang="ja-JP" altLang="en-US" dirty="0"/>
              <a:t>ただ、お客さんが</a:t>
            </a:r>
            <a:r>
              <a:rPr lang="en-US" altLang="ja-JP" dirty="0" err="1"/>
              <a:t>kubenetes</a:t>
            </a:r>
            <a:r>
              <a:rPr lang="ja-JP" altLang="en-US" dirty="0"/>
              <a:t>にかなり有識であったため</a:t>
            </a:r>
            <a:r>
              <a:rPr lang="en-US" altLang="ja-JP" dirty="0"/>
              <a:t>EKS&amp;EC2</a:t>
            </a:r>
            <a:r>
              <a:rPr lang="ja-JP" altLang="en-US" dirty="0"/>
              <a:t>の組み合わせに変更になりました。</a:t>
            </a:r>
            <a:endParaRPr kumimoji="1" lang="ja-JP" altLang="en-US" dirty="0"/>
          </a:p>
        </p:txBody>
      </p:sp>
    </p:spTree>
    <p:extLst>
      <p:ext uri="{BB962C8B-B14F-4D97-AF65-F5344CB8AC3E}">
        <p14:creationId xmlns:p14="http://schemas.microsoft.com/office/powerpoint/2010/main" val="714323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9796D-2105-4A07-27D1-5EE9D8514C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CF9DB8-4D21-5AFC-320F-CCA8643C31EF}"/>
              </a:ext>
            </a:extLst>
          </p:cNvPr>
          <p:cNvSpPr>
            <a:spLocks noGrp="1"/>
          </p:cNvSpPr>
          <p:nvPr>
            <p:ph type="title"/>
          </p:nvPr>
        </p:nvSpPr>
        <p:spPr/>
        <p:txBody>
          <a:bodyPr/>
          <a:lstStyle/>
          <a:p>
            <a:r>
              <a:rPr kumimoji="1" lang="en-US" altLang="ja-JP" dirty="0"/>
              <a:t>ECS EKS</a:t>
            </a:r>
            <a:r>
              <a:rPr kumimoji="1" lang="ja-JP" altLang="en-US" dirty="0"/>
              <a:t>の選定に関する私見</a:t>
            </a:r>
          </a:p>
        </p:txBody>
      </p:sp>
      <p:sp>
        <p:nvSpPr>
          <p:cNvPr id="3" name="コンテンツ プレースホルダー 2">
            <a:extLst>
              <a:ext uri="{FF2B5EF4-FFF2-40B4-BE49-F238E27FC236}">
                <a16:creationId xmlns:a16="http://schemas.microsoft.com/office/drawing/2014/main" id="{BFCBFDA0-9551-8EA8-F617-12B8319F9C3F}"/>
              </a:ext>
            </a:extLst>
          </p:cNvPr>
          <p:cNvSpPr>
            <a:spLocks noGrp="1"/>
          </p:cNvSpPr>
          <p:nvPr>
            <p:ph idx="1"/>
          </p:nvPr>
        </p:nvSpPr>
        <p:spPr/>
        <p:txBody>
          <a:bodyPr>
            <a:normAutofit/>
          </a:bodyPr>
          <a:lstStyle/>
          <a:p>
            <a:pPr marL="0" indent="0">
              <a:buNone/>
            </a:pPr>
            <a:r>
              <a:rPr lang="en-US" altLang="ja-JP" sz="1800" dirty="0"/>
              <a:t>AWS</a:t>
            </a:r>
            <a:r>
              <a:rPr lang="ja-JP" altLang="en-US" sz="1800" dirty="0"/>
              <a:t>でインフラがすべて完結できる設計になる場合は</a:t>
            </a:r>
            <a:r>
              <a:rPr lang="en-US" altLang="ja-JP" sz="1800" dirty="0" err="1"/>
              <a:t>ECS&amp;Fargate</a:t>
            </a:r>
            <a:r>
              <a:rPr lang="ja-JP" altLang="en-US" sz="1800" dirty="0"/>
              <a:t>を選定するのが良いと考える</a:t>
            </a:r>
            <a:br>
              <a:rPr lang="en-US" altLang="ja-JP" sz="1800" dirty="0"/>
            </a:br>
            <a:br>
              <a:rPr lang="en-US" altLang="ja-JP" sz="1800" dirty="0"/>
            </a:br>
            <a:r>
              <a:rPr lang="en-US" altLang="ja-JP" sz="1800" dirty="0"/>
              <a:t>EKS</a:t>
            </a:r>
            <a:r>
              <a:rPr lang="ja-JP" altLang="en-US" sz="1800" dirty="0"/>
              <a:t>を使用した感想として、</a:t>
            </a:r>
            <a:r>
              <a:rPr lang="en-US" altLang="ja-JP" sz="1800" dirty="0"/>
              <a:t>ECS</a:t>
            </a:r>
            <a:r>
              <a:rPr lang="ja-JP" altLang="en-US" sz="1800" dirty="0"/>
              <a:t>より細かくできることが多い</a:t>
            </a:r>
            <a:br>
              <a:rPr lang="en-US" altLang="ja-JP" sz="1800" dirty="0"/>
            </a:br>
            <a:r>
              <a:rPr lang="ja-JP" altLang="en-US" sz="1800" dirty="0"/>
              <a:t>　可観測性、運用、監視など</a:t>
            </a:r>
            <a:br>
              <a:rPr lang="en-US" altLang="ja-JP" sz="1800" dirty="0"/>
            </a:br>
            <a:r>
              <a:rPr lang="ja-JP" altLang="en-US" sz="1800" dirty="0"/>
              <a:t>マルチプラットフォームの場合</a:t>
            </a:r>
            <a:r>
              <a:rPr lang="en-US" altLang="ja-JP" sz="1800" dirty="0"/>
              <a:t>(</a:t>
            </a:r>
            <a:r>
              <a:rPr lang="ja-JP" altLang="en-US" sz="1800" dirty="0"/>
              <a:t>クラウドとオンプレの併用、別のクラウドサービスとの併用の場合</a:t>
            </a:r>
            <a:r>
              <a:rPr lang="en-US" altLang="ja-JP" sz="1800" dirty="0"/>
              <a:t>)</a:t>
            </a:r>
            <a:r>
              <a:rPr lang="ja-JP" altLang="en-US" sz="1800" dirty="0"/>
              <a:t>は</a:t>
            </a:r>
            <a:r>
              <a:rPr lang="en-US" altLang="ja-JP" sz="1800" dirty="0"/>
              <a:t>EKS</a:t>
            </a:r>
            <a:r>
              <a:rPr lang="ja-JP" altLang="en-US" sz="1800" dirty="0"/>
              <a:t>を選定するのが良いと考える</a:t>
            </a:r>
            <a:br>
              <a:rPr lang="en-US" altLang="ja-JP" sz="1800" dirty="0"/>
            </a:br>
            <a:br>
              <a:rPr lang="en-US" altLang="ja-JP" sz="1800" dirty="0"/>
            </a:br>
            <a:r>
              <a:rPr lang="en-US" altLang="ja-JP" sz="1800" dirty="0"/>
              <a:t>ECS</a:t>
            </a:r>
            <a:r>
              <a:rPr lang="ja-JP" altLang="en-US" sz="1800" dirty="0"/>
              <a:t>は覚えないといけない言葉が</a:t>
            </a:r>
            <a:r>
              <a:rPr lang="en-US" altLang="ja-JP" sz="1800" dirty="0"/>
              <a:t>EKS</a:t>
            </a:r>
            <a:r>
              <a:rPr lang="ja-JP" altLang="en-US" sz="1800" dirty="0"/>
              <a:t>に比べ圧倒的に少ない。</a:t>
            </a:r>
            <a:r>
              <a:rPr lang="en-US" altLang="ja-JP" sz="1800" dirty="0" err="1"/>
              <a:t>Fargate</a:t>
            </a:r>
            <a:r>
              <a:rPr lang="ja-JP" altLang="en-US" sz="1800" dirty="0"/>
              <a:t>もサーバのことを</a:t>
            </a:r>
            <a:r>
              <a:rPr lang="en-US" altLang="ja-JP" sz="1800" dirty="0"/>
              <a:t>AWS</a:t>
            </a:r>
            <a:r>
              <a:rPr lang="ja-JP" altLang="en-US" sz="1800" dirty="0"/>
              <a:t>にお任せできるので管理が非常に楽</a:t>
            </a:r>
            <a:endParaRPr lang="en-US" altLang="ja-JP" sz="1800" dirty="0"/>
          </a:p>
        </p:txBody>
      </p:sp>
    </p:spTree>
    <p:extLst>
      <p:ext uri="{BB962C8B-B14F-4D97-AF65-F5344CB8AC3E}">
        <p14:creationId xmlns:p14="http://schemas.microsoft.com/office/powerpoint/2010/main" val="4213129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D33C54-3937-0EEE-A5F6-E357650C5393}"/>
              </a:ext>
            </a:extLst>
          </p:cNvPr>
          <p:cNvSpPr>
            <a:spLocks noGrp="1"/>
          </p:cNvSpPr>
          <p:nvPr>
            <p:ph type="title"/>
          </p:nvPr>
        </p:nvSpPr>
        <p:spPr/>
        <p:txBody>
          <a:bodyPr/>
          <a:lstStyle/>
          <a:p>
            <a:r>
              <a:rPr lang="ja-JP" altLang="en-US" dirty="0"/>
              <a:t>学んだこと</a:t>
            </a:r>
            <a:endParaRPr kumimoji="1" lang="ja-JP" altLang="en-US" dirty="0"/>
          </a:p>
        </p:txBody>
      </p:sp>
      <p:sp>
        <p:nvSpPr>
          <p:cNvPr id="3" name="コンテンツ プレースホルダー 2">
            <a:extLst>
              <a:ext uri="{FF2B5EF4-FFF2-40B4-BE49-F238E27FC236}">
                <a16:creationId xmlns:a16="http://schemas.microsoft.com/office/drawing/2014/main" id="{DDDB2369-4EA5-017C-357A-E572546FC5E1}"/>
              </a:ext>
            </a:extLst>
          </p:cNvPr>
          <p:cNvSpPr>
            <a:spLocks noGrp="1"/>
          </p:cNvSpPr>
          <p:nvPr>
            <p:ph idx="1"/>
          </p:nvPr>
        </p:nvSpPr>
        <p:spPr/>
        <p:txBody>
          <a:bodyPr/>
          <a:lstStyle/>
          <a:p>
            <a:r>
              <a:rPr kumimoji="1" lang="ja-JP" altLang="en-US" dirty="0"/>
              <a:t>インフラとアプリを業務で経験することでシステムの全体像がわか</a:t>
            </a:r>
            <a:r>
              <a:rPr lang="ja-JP" altLang="en-US" dirty="0"/>
              <a:t>る</a:t>
            </a:r>
            <a:endParaRPr lang="en-US" altLang="ja-JP" dirty="0"/>
          </a:p>
          <a:p>
            <a:r>
              <a:rPr lang="en-US" altLang="ja-JP" dirty="0"/>
              <a:t>k8s</a:t>
            </a:r>
            <a:r>
              <a:rPr lang="ja-JP" altLang="en-US" dirty="0"/>
              <a:t>は難しい、慣れれば便利かも</a:t>
            </a:r>
            <a:r>
              <a:rPr lang="en-US" altLang="ja-JP" dirty="0"/>
              <a:t>(</a:t>
            </a:r>
            <a:r>
              <a:rPr lang="ja-JP" altLang="en-US" dirty="0"/>
              <a:t>毛利さんは</a:t>
            </a:r>
            <a:r>
              <a:rPr lang="en-US" altLang="ja-JP" dirty="0"/>
              <a:t>ECS</a:t>
            </a:r>
            <a:r>
              <a:rPr lang="ja-JP" altLang="en-US" dirty="0"/>
              <a:t>のほうが難しいと言っていた</a:t>
            </a:r>
            <a:r>
              <a:rPr lang="en-US" altLang="ja-JP" dirty="0"/>
              <a:t>)</a:t>
            </a:r>
          </a:p>
          <a:p>
            <a:r>
              <a:rPr lang="ja-JP" altLang="en-US" dirty="0"/>
              <a:t>両方のサービスをもっと使って、今後最適な選択肢が取れるようになりたい。</a:t>
            </a:r>
            <a:endParaRPr lang="en-US" altLang="ja-JP" dirty="0"/>
          </a:p>
        </p:txBody>
      </p:sp>
    </p:spTree>
    <p:extLst>
      <p:ext uri="{BB962C8B-B14F-4D97-AF65-F5344CB8AC3E}">
        <p14:creationId xmlns:p14="http://schemas.microsoft.com/office/powerpoint/2010/main" val="992198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BC6628-C0A9-26F2-1640-FE97389F8499}"/>
              </a:ext>
            </a:extLst>
          </p:cNvPr>
          <p:cNvSpPr>
            <a:spLocks noGrp="1"/>
          </p:cNvSpPr>
          <p:nvPr>
            <p:ph type="title"/>
          </p:nvPr>
        </p:nvSpPr>
        <p:spPr/>
        <p:txBody>
          <a:bodyPr/>
          <a:lstStyle/>
          <a:p>
            <a:r>
              <a:rPr kumimoji="1" lang="ja-JP" altLang="en-US" dirty="0"/>
              <a:t>最後に</a:t>
            </a:r>
          </a:p>
        </p:txBody>
      </p:sp>
      <p:sp>
        <p:nvSpPr>
          <p:cNvPr id="3" name="コンテンツ プレースホルダー 2">
            <a:extLst>
              <a:ext uri="{FF2B5EF4-FFF2-40B4-BE49-F238E27FC236}">
                <a16:creationId xmlns:a16="http://schemas.microsoft.com/office/drawing/2014/main" id="{33862670-6BF4-4C96-9186-15F0B140D6E4}"/>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865145536"/>
      </p:ext>
    </p:extLst>
  </p:cSld>
  <p:clrMapOvr>
    <a:masterClrMapping/>
  </p:clrMapOvr>
</p:sld>
</file>

<file path=ppt/theme/theme1.xml><?xml version="1.0" encoding="utf-8"?>
<a:theme xmlns:a="http://schemas.openxmlformats.org/drawingml/2006/main" name="TI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IS" id="{9CAF9600-22E3-44EB-AE62-D701D6EE371C}" vid="{74F74440-812C-4ED1-B17C-5B5E24BE3B7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TIS</Template>
  <TotalTime>759</TotalTime>
  <Words>937</Words>
  <Application>Microsoft Office PowerPoint</Application>
  <PresentationFormat>ワイド画面</PresentationFormat>
  <Paragraphs>50</Paragraphs>
  <Slides>15</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游ゴシック</vt:lpstr>
      <vt:lpstr>游ゴシック Light</vt:lpstr>
      <vt:lpstr>Arial</vt:lpstr>
      <vt:lpstr>TIS</vt:lpstr>
      <vt:lpstr>PowerPoint プレゼンテーション</vt:lpstr>
      <vt:lpstr>初めに</vt:lpstr>
      <vt:lpstr>目的</vt:lpstr>
      <vt:lpstr>仮想化とは</vt:lpstr>
      <vt:lpstr>Linuxとは</vt:lpstr>
      <vt:lpstr>コンテナとは</vt:lpstr>
      <vt:lpstr>Dockerコンテナが動くまで</vt:lpstr>
      <vt:lpstr>AWSを用いてコンテナを動かすときの選択肢</vt:lpstr>
      <vt:lpstr>それぞれの特徴(データプレーン)</vt:lpstr>
      <vt:lpstr>それぞれの特徴(コントロールプレーン)</vt:lpstr>
      <vt:lpstr>ECS&amp;FargateからEKS&amp;EC2に変わった理由</vt:lpstr>
      <vt:lpstr>私見</vt:lpstr>
      <vt:lpstr>ECS EKSの選定に関する私見</vt:lpstr>
      <vt:lpstr>学んだこと</vt:lpstr>
      <vt:lpstr>最後に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裕希 相川</dc:creator>
  <cp:lastModifiedBy>裕希 相川</cp:lastModifiedBy>
  <cp:revision>2</cp:revision>
  <dcterms:created xsi:type="dcterms:W3CDTF">2025-02-24T02:39:50Z</dcterms:created>
  <dcterms:modified xsi:type="dcterms:W3CDTF">2025-02-24T15:19:42Z</dcterms:modified>
</cp:coreProperties>
</file>